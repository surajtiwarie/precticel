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c1"/>
          <p:cNvSpPr/>
          <p:nvPr/>
        </p:nvSpPr>
        <p:spPr>
          <a:xfrm>
            <a:off x="8138160" y="-1920240"/>
            <a:ext cx="5760720" cy="5760720"/>
          </a:xfrm>
          <a:prstGeom prst="ellipse">
            <a:avLst/>
          </a:prstGeom>
          <a:ln w="12700">
            <a:solidFill>
              <a:srgbClr val="1D5A47"/>
            </a:solidFill>
            <a:prstDash val="solid"/>
          </a:ln>
        </p:spPr>
      </p:sp>
      <p:sp>
        <p:nvSpPr>
          <p:cNvPr id="3" name="bg-c2"/>
          <p:cNvSpPr/>
          <p:nvPr/>
        </p:nvSpPr>
        <p:spPr>
          <a:xfrm>
            <a:off x="9966960" y="2834640"/>
            <a:ext cx="4297680" cy="4297680"/>
          </a:xfrm>
          <a:prstGeom prst="ellipse">
            <a:avLst/>
          </a:prstGeom>
          <a:ln w="12700">
            <a:solidFill>
              <a:srgbClr val="1D5A47"/>
            </a:solidFill>
            <a:prstDash val="solid"/>
          </a:ln>
        </p:spPr>
      </p:sp>
      <p:sp>
        <p:nvSpPr>
          <p:cNvPr id="4" name="bg-dot"/>
          <p:cNvSpPr/>
          <p:nvPr/>
        </p:nvSpPr>
        <p:spPr>
          <a:xfrm>
            <a:off x="9893808" y="2724912"/>
            <a:ext cx="146304" cy="146304"/>
          </a:xfrm>
          <a:prstGeom prst="ellipse">
            <a:avLst/>
          </a:prstGeom>
          <a:solidFill>
            <a:srgbClr val="C2A36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FUNDAMENTALS  ·  PRACTICAL EXAMINATION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9144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DCE8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0416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BE8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classification based on size, power and purpose</a:t>
            </a:r>
            <a:endParaRPr lang="en-US" sz="1700" dirty="0"/>
          </a:p>
        </p:txBody>
      </p:sp>
      <p:sp>
        <p:nvSpPr>
          <p:cNvPr id="8" name="namecard"/>
          <p:cNvSpPr/>
          <p:nvPr/>
        </p:nvSpPr>
        <p:spPr>
          <a:xfrm>
            <a:off x="868680" y="4983480"/>
            <a:ext cx="5120640" cy="1143000"/>
          </a:xfrm>
          <a:prstGeom prst="roundRect">
            <a:avLst>
              <a:gd name="adj" fmla="val 7200"/>
            </a:avLst>
          </a:prstGeom>
          <a:solidFill>
            <a:srgbClr val="0F4B3B"/>
          </a:solidFill>
          <a:ln w="9525">
            <a:solidFill>
              <a:srgbClr val="1D5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51755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8F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5431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Suraj Tiwari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0440" y="51755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8F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ROLL NO.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5458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00250809000808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DF4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—  OVERVIEW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3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Brief Classification of Computers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TYPES OF COMPUTERS</a:t>
            </a:r>
            <a:endParaRPr lang="en-US" sz="900" dirty="0"/>
          </a:p>
        </p:txBody>
      </p:sp>
      <p:sp>
        <p:nvSpPr>
          <p:cNvPr id="6" name="deflabel"/>
          <p:cNvSpPr/>
          <p:nvPr/>
        </p:nvSpPr>
        <p:spPr>
          <a:xfrm>
            <a:off x="841248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2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deftext"/>
          <p:cNvSpPr/>
          <p:nvPr/>
        </p:nvSpPr>
        <p:spPr>
          <a:xfrm>
            <a:off x="841248" y="260604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i="1" dirty="0">
                <a:solidFill>
                  <a:srgbClr val="314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Computers are classified on the basis of their size, processing power, speed and purpose of use — into Supercomputers, Mainframes, Minicomputers and Microcomputers.</a:t>
            </a:r>
            <a:endParaRPr lang="en-US" sz="1600" dirty="0"/>
          </a:p>
        </p:txBody>
      </p:sp>
      <p:sp>
        <p:nvSpPr>
          <p:cNvPr id="8" name="basis"/>
          <p:cNvSpPr/>
          <p:nvPr/>
        </p:nvSpPr>
        <p:spPr>
          <a:xfrm>
            <a:off x="841248" y="5349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· SIZE · SPEED · POWER · PURPOSE</a:t>
            </a:r>
            <a:endParaRPr lang="en-US" sz="1050" dirty="0"/>
          </a:p>
        </p:txBody>
      </p:sp>
      <p:sp>
        <p:nvSpPr>
          <p:cNvPr id="9" name="tile0"/>
          <p:cNvSpPr/>
          <p:nvPr/>
        </p:nvSpPr>
        <p:spPr>
          <a:xfrm>
            <a:off x="5074920" y="2212848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0" name="tilec0"/>
          <p:cNvSpPr/>
          <p:nvPr/>
        </p:nvSpPr>
        <p:spPr>
          <a:xfrm>
            <a:off x="5367528" y="2505456"/>
            <a:ext cx="475488" cy="47548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624328"/>
            <a:ext cx="237744" cy="237744"/>
          </a:xfrm>
          <a:prstGeom prst="rect">
            <a:avLst/>
          </a:prstGeom>
        </p:spPr>
      </p:pic>
      <p:sp>
        <p:nvSpPr>
          <p:cNvPr id="12" name="tilen0"/>
          <p:cNvSpPr/>
          <p:nvPr/>
        </p:nvSpPr>
        <p:spPr>
          <a:xfrm>
            <a:off x="6007608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</a:t>
            </a:r>
            <a:endParaRPr lang="en-US" sz="1550" dirty="0"/>
          </a:p>
        </p:txBody>
      </p:sp>
      <p:sp>
        <p:nvSpPr>
          <p:cNvPr id="13" name="tiled0"/>
          <p:cNvSpPr/>
          <p:nvPr/>
        </p:nvSpPr>
        <p:spPr>
          <a:xfrm>
            <a:off x="536752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and most powerful machines</a:t>
            </a:r>
            <a:endParaRPr lang="en-US" sz="1150" dirty="0"/>
          </a:p>
        </p:txBody>
      </p:sp>
      <p:sp>
        <p:nvSpPr>
          <p:cNvPr id="14" name="tile1"/>
          <p:cNvSpPr/>
          <p:nvPr/>
        </p:nvSpPr>
        <p:spPr>
          <a:xfrm>
            <a:off x="8567928" y="2212848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5" name="tilec1"/>
          <p:cNvSpPr/>
          <p:nvPr/>
        </p:nvSpPr>
        <p:spPr>
          <a:xfrm>
            <a:off x="8860536" y="2505456"/>
            <a:ext cx="475488" cy="47548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2624328"/>
            <a:ext cx="237744" cy="237744"/>
          </a:xfrm>
          <a:prstGeom prst="rect">
            <a:avLst/>
          </a:prstGeom>
        </p:spPr>
      </p:pic>
      <p:sp>
        <p:nvSpPr>
          <p:cNvPr id="17" name="tilen1"/>
          <p:cNvSpPr/>
          <p:nvPr/>
        </p:nvSpPr>
        <p:spPr>
          <a:xfrm>
            <a:off x="9500616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550" dirty="0"/>
          </a:p>
        </p:txBody>
      </p:sp>
      <p:sp>
        <p:nvSpPr>
          <p:cNvPr id="18" name="tiled1"/>
          <p:cNvSpPr/>
          <p:nvPr/>
        </p:nvSpPr>
        <p:spPr>
          <a:xfrm>
            <a:off x="8860536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for large organisations</a:t>
            </a:r>
            <a:endParaRPr lang="en-US" sz="1150" dirty="0"/>
          </a:p>
        </p:txBody>
      </p:sp>
      <p:sp>
        <p:nvSpPr>
          <p:cNvPr id="19" name="tile2"/>
          <p:cNvSpPr/>
          <p:nvPr/>
        </p:nvSpPr>
        <p:spPr>
          <a:xfrm>
            <a:off x="5074920" y="4288536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20" name="tilec2"/>
          <p:cNvSpPr/>
          <p:nvPr/>
        </p:nvSpPr>
        <p:spPr>
          <a:xfrm>
            <a:off x="5367528" y="4581144"/>
            <a:ext cx="475488" cy="47548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700016"/>
            <a:ext cx="237744" cy="237744"/>
          </a:xfrm>
          <a:prstGeom prst="rect">
            <a:avLst/>
          </a:prstGeom>
        </p:spPr>
      </p:pic>
      <p:sp>
        <p:nvSpPr>
          <p:cNvPr id="22" name="tilen2"/>
          <p:cNvSpPr/>
          <p:nvPr/>
        </p:nvSpPr>
        <p:spPr>
          <a:xfrm>
            <a:off x="6007608" y="45811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Minicomputer</a:t>
            </a:r>
            <a:endParaRPr lang="en-US" sz="1550" dirty="0"/>
          </a:p>
        </p:txBody>
      </p:sp>
      <p:sp>
        <p:nvSpPr>
          <p:cNvPr id="23" name="tiled2"/>
          <p:cNvSpPr/>
          <p:nvPr/>
        </p:nvSpPr>
        <p:spPr>
          <a:xfrm>
            <a:off x="5367528" y="52760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Mid-sized, multi-user systems</a:t>
            </a:r>
            <a:endParaRPr lang="en-US" sz="1150" dirty="0"/>
          </a:p>
        </p:txBody>
      </p:sp>
      <p:sp>
        <p:nvSpPr>
          <p:cNvPr id="24" name="tile3"/>
          <p:cNvSpPr/>
          <p:nvPr/>
        </p:nvSpPr>
        <p:spPr>
          <a:xfrm>
            <a:off x="8567928" y="4288536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25" name="tilec3"/>
          <p:cNvSpPr/>
          <p:nvPr/>
        </p:nvSpPr>
        <p:spPr>
          <a:xfrm>
            <a:off x="8860536" y="4581144"/>
            <a:ext cx="475488" cy="47548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4700016"/>
            <a:ext cx="237744" cy="237744"/>
          </a:xfrm>
          <a:prstGeom prst="rect">
            <a:avLst/>
          </a:prstGeom>
        </p:spPr>
      </p:pic>
      <p:sp>
        <p:nvSpPr>
          <p:cNvPr id="27" name="tilen3"/>
          <p:cNvSpPr/>
          <p:nvPr/>
        </p:nvSpPr>
        <p:spPr>
          <a:xfrm>
            <a:off x="9500616" y="45811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Microcomputer</a:t>
            </a:r>
            <a:endParaRPr lang="en-US" sz="1550" dirty="0"/>
          </a:p>
        </p:txBody>
      </p:sp>
      <p:sp>
        <p:nvSpPr>
          <p:cNvPr id="28" name="tiled3"/>
          <p:cNvSpPr/>
          <p:nvPr/>
        </p:nvSpPr>
        <p:spPr>
          <a:xfrm>
            <a:off x="8860536" y="52760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computers and laptops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DF4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3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TYPES OF COMPUTERS</a:t>
            </a:r>
            <a:endParaRPr lang="en-US" sz="900" dirty="0"/>
          </a:p>
        </p:txBody>
      </p:sp>
      <p:sp>
        <p:nvSpPr>
          <p:cNvPr id="6" name="defcard"/>
          <p:cNvSpPr/>
          <p:nvPr/>
        </p:nvSpPr>
        <p:spPr>
          <a:xfrm>
            <a:off x="822960" y="2103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7" name="deflabel"/>
          <p:cNvSpPr/>
          <p:nvPr/>
        </p:nvSpPr>
        <p:spPr>
          <a:xfrm>
            <a:off x="11887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2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deftext"/>
          <p:cNvSpPr/>
          <p:nvPr/>
        </p:nvSpPr>
        <p:spPr>
          <a:xfrm>
            <a:off x="1188720" y="281635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i="1" dirty="0">
                <a:solidFill>
                  <a:srgbClr val="314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fastest and most powerful type of computer, designed to perform highly complex calculations and large-scale data processing at extremely high speeds.</a:t>
            </a:r>
            <a:endParaRPr lang="en-US" sz="1550" dirty="0"/>
          </a:p>
        </p:txBody>
      </p:sp>
      <p:sp>
        <p:nvSpPr>
          <p:cNvPr id="9" name="statlabel"/>
          <p:cNvSpPr/>
          <p:nvPr/>
        </p:nvSpPr>
        <p:spPr>
          <a:xfrm>
            <a:off x="118872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MEASURED IN</a:t>
            </a:r>
            <a:endParaRPr lang="en-US" sz="1050" dirty="0"/>
          </a:p>
        </p:txBody>
      </p:sp>
      <p:sp>
        <p:nvSpPr>
          <p:cNvPr id="10" name="statvalue"/>
          <p:cNvSpPr/>
          <p:nvPr/>
        </p:nvSpPr>
        <p:spPr>
          <a:xfrm>
            <a:off x="1188720" y="52852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73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FLOPS</a:t>
            </a:r>
            <a:endParaRPr lang="en-US" sz="2700" dirty="0"/>
          </a:p>
        </p:txBody>
      </p:sp>
      <p:sp>
        <p:nvSpPr>
          <p:cNvPr id="11" name="featlabel"/>
          <p:cNvSpPr/>
          <p:nvPr/>
        </p:nvSpPr>
        <p:spPr>
          <a:xfrm>
            <a:off x="58064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featcirc0"/>
          <p:cNvSpPr/>
          <p:nvPr/>
        </p:nvSpPr>
        <p:spPr>
          <a:xfrm>
            <a:off x="5806440" y="2624328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172" y="2766060"/>
            <a:ext cx="283464" cy="283464"/>
          </a:xfrm>
          <a:prstGeom prst="rect">
            <a:avLst/>
          </a:prstGeom>
        </p:spPr>
      </p:pic>
      <p:sp>
        <p:nvSpPr>
          <p:cNvPr id="14" name="feath0"/>
          <p:cNvSpPr/>
          <p:nvPr/>
        </p:nvSpPr>
        <p:spPr>
          <a:xfrm>
            <a:off x="6583680" y="25968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Speed</a:t>
            </a:r>
            <a:endParaRPr lang="en-US" sz="1550" dirty="0"/>
          </a:p>
        </p:txBody>
      </p:sp>
      <p:sp>
        <p:nvSpPr>
          <p:cNvPr id="15" name="featd0"/>
          <p:cNvSpPr/>
          <p:nvPr/>
        </p:nvSpPr>
        <p:spPr>
          <a:xfrm>
            <a:off x="6583680" y="29260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billions of floating-point operations per second on complex calculations.</a:t>
            </a:r>
            <a:endParaRPr lang="en-US" sz="1250" dirty="0"/>
          </a:p>
        </p:txBody>
      </p:sp>
      <p:sp>
        <p:nvSpPr>
          <p:cNvPr id="16" name="featcirc1"/>
          <p:cNvSpPr/>
          <p:nvPr/>
        </p:nvSpPr>
        <p:spPr>
          <a:xfrm>
            <a:off x="5806440" y="3831336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3973068"/>
            <a:ext cx="283464" cy="283464"/>
          </a:xfrm>
          <a:prstGeom prst="rect">
            <a:avLst/>
          </a:prstGeom>
        </p:spPr>
      </p:pic>
      <p:sp>
        <p:nvSpPr>
          <p:cNvPr id="18" name="feath1"/>
          <p:cNvSpPr/>
          <p:nvPr/>
        </p:nvSpPr>
        <p:spPr>
          <a:xfrm>
            <a:off x="6583680" y="38039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Applications</a:t>
            </a:r>
            <a:endParaRPr lang="en-US" sz="1550" dirty="0"/>
          </a:p>
        </p:txBody>
      </p:sp>
      <p:sp>
        <p:nvSpPr>
          <p:cNvPr id="19" name="featd1"/>
          <p:cNvSpPr/>
          <p:nvPr/>
        </p:nvSpPr>
        <p:spPr>
          <a:xfrm>
            <a:off x="6583680" y="413308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weather forecasting, space exploration, research and large-scale simulations.</a:t>
            </a:r>
            <a:endParaRPr lang="en-US" sz="1250" dirty="0"/>
          </a:p>
        </p:txBody>
      </p:sp>
      <p:sp>
        <p:nvSpPr>
          <p:cNvPr id="20" name="featcirc2"/>
          <p:cNvSpPr/>
          <p:nvPr/>
        </p:nvSpPr>
        <p:spPr>
          <a:xfrm>
            <a:off x="5806440" y="5038344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5180076"/>
            <a:ext cx="283464" cy="283464"/>
          </a:xfrm>
          <a:prstGeom prst="rect">
            <a:avLst/>
          </a:prstGeom>
        </p:spPr>
      </p:pic>
      <p:sp>
        <p:nvSpPr>
          <p:cNvPr id="22" name="feath2"/>
          <p:cNvSpPr/>
          <p:nvPr/>
        </p:nvSpPr>
        <p:spPr>
          <a:xfrm>
            <a:off x="6583680" y="50109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&amp; Expensive</a:t>
            </a:r>
            <a:endParaRPr lang="en-US" sz="1550" dirty="0"/>
          </a:p>
        </p:txBody>
      </p:sp>
      <p:sp>
        <p:nvSpPr>
          <p:cNvPr id="23" name="featd2"/>
          <p:cNvSpPr/>
          <p:nvPr/>
        </p:nvSpPr>
        <p:spPr>
          <a:xfrm>
            <a:off x="6583680" y="534009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Occupies huge space, consumes massive power and is extremely costly to build and maintain.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DF4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3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Mainframe 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TYPES OF COMPUTERS</a:t>
            </a:r>
            <a:endParaRPr lang="en-US" sz="900" dirty="0"/>
          </a:p>
        </p:txBody>
      </p:sp>
      <p:sp>
        <p:nvSpPr>
          <p:cNvPr id="6" name="featlabel"/>
          <p:cNvSpPr/>
          <p:nvPr/>
        </p:nvSpPr>
        <p:spPr>
          <a:xfrm>
            <a:off x="841248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7" name="featcirc0"/>
          <p:cNvSpPr/>
          <p:nvPr/>
        </p:nvSpPr>
        <p:spPr>
          <a:xfrm>
            <a:off x="841248" y="2624328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766060"/>
            <a:ext cx="283464" cy="283464"/>
          </a:xfrm>
          <a:prstGeom prst="rect">
            <a:avLst/>
          </a:prstGeom>
        </p:spPr>
      </p:pic>
      <p:sp>
        <p:nvSpPr>
          <p:cNvPr id="9" name="feath0"/>
          <p:cNvSpPr/>
          <p:nvPr/>
        </p:nvSpPr>
        <p:spPr>
          <a:xfrm>
            <a:off x="1618488" y="25968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</a:t>
            </a:r>
            <a:endParaRPr lang="en-US" sz="1550" dirty="0"/>
          </a:p>
        </p:txBody>
      </p:sp>
      <p:sp>
        <p:nvSpPr>
          <p:cNvPr id="10" name="featd0"/>
          <p:cNvSpPr/>
          <p:nvPr/>
        </p:nvSpPr>
        <p:spPr>
          <a:xfrm>
            <a:off x="1618488" y="29260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continuous uptime over long periods — rarely goes down or fails.</a:t>
            </a:r>
            <a:endParaRPr lang="en-US" sz="1250" dirty="0"/>
          </a:p>
        </p:txBody>
      </p:sp>
      <p:sp>
        <p:nvSpPr>
          <p:cNvPr id="11" name="featcirc1"/>
          <p:cNvSpPr/>
          <p:nvPr/>
        </p:nvSpPr>
        <p:spPr>
          <a:xfrm>
            <a:off x="841248" y="3831336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73068"/>
            <a:ext cx="283464" cy="283464"/>
          </a:xfrm>
          <a:prstGeom prst="rect">
            <a:avLst/>
          </a:prstGeom>
        </p:spPr>
      </p:pic>
      <p:sp>
        <p:nvSpPr>
          <p:cNvPr id="13" name="feath1"/>
          <p:cNvSpPr/>
          <p:nvPr/>
        </p:nvSpPr>
        <p:spPr>
          <a:xfrm>
            <a:off x="1618488" y="380390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Users</a:t>
            </a:r>
            <a:endParaRPr lang="en-US" sz="1550" dirty="0"/>
          </a:p>
        </p:txBody>
      </p:sp>
      <p:sp>
        <p:nvSpPr>
          <p:cNvPr id="14" name="featd1"/>
          <p:cNvSpPr/>
          <p:nvPr/>
        </p:nvSpPr>
        <p:spPr>
          <a:xfrm>
            <a:off x="1618488" y="413308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many users and multiple programs running at the same time.</a:t>
            </a:r>
            <a:endParaRPr lang="en-US" sz="1250" dirty="0"/>
          </a:p>
        </p:txBody>
      </p:sp>
      <p:sp>
        <p:nvSpPr>
          <p:cNvPr id="15" name="featcirc2"/>
          <p:cNvSpPr/>
          <p:nvPr/>
        </p:nvSpPr>
        <p:spPr>
          <a:xfrm>
            <a:off x="841248" y="5038344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180076"/>
            <a:ext cx="283464" cy="283464"/>
          </a:xfrm>
          <a:prstGeom prst="rect">
            <a:avLst/>
          </a:prstGeom>
        </p:spPr>
      </p:pic>
      <p:sp>
        <p:nvSpPr>
          <p:cNvPr id="17" name="feath2"/>
          <p:cNvSpPr/>
          <p:nvPr/>
        </p:nvSpPr>
        <p:spPr>
          <a:xfrm>
            <a:off x="1618488" y="50109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Workhorse</a:t>
            </a:r>
            <a:endParaRPr lang="en-US" sz="1550" dirty="0"/>
          </a:p>
        </p:txBody>
      </p:sp>
      <p:sp>
        <p:nvSpPr>
          <p:cNvPr id="18" name="featd2"/>
          <p:cNvSpPr/>
          <p:nvPr/>
        </p:nvSpPr>
        <p:spPr>
          <a:xfrm>
            <a:off x="1618488" y="5340096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banks, government departments, airlines and large enterprises.</a:t>
            </a:r>
            <a:endParaRPr lang="en-US" sz="1250" dirty="0"/>
          </a:p>
        </p:txBody>
      </p:sp>
      <p:sp>
        <p:nvSpPr>
          <p:cNvPr id="19" name="defcard"/>
          <p:cNvSpPr/>
          <p:nvPr/>
        </p:nvSpPr>
        <p:spPr>
          <a:xfrm>
            <a:off x="6903720" y="2103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20" name="deflabel"/>
          <p:cNvSpPr/>
          <p:nvPr/>
        </p:nvSpPr>
        <p:spPr>
          <a:xfrm>
            <a:off x="72694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2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1" name="deftext"/>
          <p:cNvSpPr/>
          <p:nvPr/>
        </p:nvSpPr>
        <p:spPr>
          <a:xfrm>
            <a:off x="7269480" y="281635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i="1" dirty="0">
                <a:solidFill>
                  <a:srgbClr val="314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large, powerful computer used by big organisations to process and manage bulk data reliably, securely and continuously over long periods.</a:t>
            </a:r>
            <a:endParaRPr lang="en-US" sz="1550" dirty="0"/>
          </a:p>
        </p:txBody>
      </p:sp>
      <p:sp>
        <p:nvSpPr>
          <p:cNvPr id="22" name="statlabel"/>
          <p:cNvSpPr/>
          <p:nvPr/>
        </p:nvSpPr>
        <p:spPr>
          <a:xfrm>
            <a:off x="726948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</a:t>
            </a:r>
            <a:endParaRPr lang="en-US" sz="1050" dirty="0"/>
          </a:p>
        </p:txBody>
      </p:sp>
      <p:sp>
        <p:nvSpPr>
          <p:cNvPr id="23" name="statvalue"/>
          <p:cNvSpPr/>
          <p:nvPr/>
        </p:nvSpPr>
        <p:spPr>
          <a:xfrm>
            <a:off x="7269480" y="52852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73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 × 7 Operation</a:t>
            </a:r>
            <a:endParaRPr lang="en-US" sz="2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DF4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3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TYPES OF COMPUTERS</a:t>
            </a:r>
            <a:endParaRPr lang="en-US" sz="900" dirty="0"/>
          </a:p>
        </p:txBody>
      </p:sp>
      <p:sp>
        <p:nvSpPr>
          <p:cNvPr id="6" name="defcard"/>
          <p:cNvSpPr/>
          <p:nvPr/>
        </p:nvSpPr>
        <p:spPr>
          <a:xfrm>
            <a:off x="822960" y="2103120"/>
            <a:ext cx="10543032" cy="1234440"/>
          </a:xfrm>
          <a:prstGeom prst="roundRect">
            <a:avLst>
              <a:gd name="adj" fmla="val 7407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7" name="deflabel"/>
          <p:cNvSpPr/>
          <p:nvPr/>
        </p:nvSpPr>
        <p:spPr>
          <a:xfrm>
            <a:off x="1188720" y="21031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2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deftext"/>
          <p:cNvSpPr/>
          <p:nvPr/>
        </p:nvSpPr>
        <p:spPr>
          <a:xfrm>
            <a:off x="2788920" y="21031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314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mid-sized computer with processing power between mainframes and microcomputers, used for specific organisational and technical tasks.</a:t>
            </a:r>
            <a:endParaRPr lang="en-US" sz="1550" dirty="0"/>
          </a:p>
        </p:txBody>
      </p:sp>
      <p:sp>
        <p:nvSpPr>
          <p:cNvPr id="9" name="card0"/>
          <p:cNvSpPr/>
          <p:nvPr/>
        </p:nvSpPr>
        <p:spPr>
          <a:xfrm>
            <a:off x="822960" y="37033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0" name="cardc0"/>
          <p:cNvSpPr/>
          <p:nvPr/>
        </p:nvSpPr>
        <p:spPr>
          <a:xfrm>
            <a:off x="1143000" y="4050792"/>
            <a:ext cx="548640" cy="548640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87952"/>
            <a:ext cx="274320" cy="274320"/>
          </a:xfrm>
          <a:prstGeom prst="rect">
            <a:avLst/>
          </a:prstGeom>
        </p:spPr>
      </p:pic>
      <p:sp>
        <p:nvSpPr>
          <p:cNvPr id="12" name="cardh0"/>
          <p:cNvSpPr/>
          <p:nvPr/>
        </p:nvSpPr>
        <p:spPr>
          <a:xfrm>
            <a:off x="1143000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</a:t>
            </a:r>
            <a:endParaRPr lang="en-US" sz="1500" dirty="0"/>
          </a:p>
        </p:txBody>
      </p:sp>
      <p:sp>
        <p:nvSpPr>
          <p:cNvPr id="13" name="cardd0"/>
          <p:cNvSpPr/>
          <p:nvPr/>
        </p:nvSpPr>
        <p:spPr>
          <a:xfrm>
            <a:off x="1143000" y="5148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users can work on the same system at the same time.</a:t>
            </a:r>
            <a:endParaRPr lang="en-US" sz="1200" dirty="0"/>
          </a:p>
        </p:txBody>
      </p:sp>
      <p:sp>
        <p:nvSpPr>
          <p:cNvPr id="14" name="card1"/>
          <p:cNvSpPr/>
          <p:nvPr/>
        </p:nvSpPr>
        <p:spPr>
          <a:xfrm>
            <a:off x="4535424" y="37033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5" name="cardc1"/>
          <p:cNvSpPr/>
          <p:nvPr/>
        </p:nvSpPr>
        <p:spPr>
          <a:xfrm>
            <a:off x="4855464" y="4050792"/>
            <a:ext cx="548640" cy="548640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4187952"/>
            <a:ext cx="274320" cy="274320"/>
          </a:xfrm>
          <a:prstGeom prst="rect">
            <a:avLst/>
          </a:prstGeom>
        </p:spPr>
      </p:pic>
      <p:sp>
        <p:nvSpPr>
          <p:cNvPr id="17" name="cardh1"/>
          <p:cNvSpPr/>
          <p:nvPr/>
        </p:nvSpPr>
        <p:spPr>
          <a:xfrm>
            <a:off x="4855464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Power</a:t>
            </a:r>
            <a:endParaRPr lang="en-US" sz="1500" dirty="0"/>
          </a:p>
        </p:txBody>
      </p:sp>
      <p:sp>
        <p:nvSpPr>
          <p:cNvPr id="18" name="cardd1"/>
          <p:cNvSpPr/>
          <p:nvPr/>
        </p:nvSpPr>
        <p:spPr>
          <a:xfrm>
            <a:off x="4855464" y="5148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in cost, size and capacity — between mainframe and micro.</a:t>
            </a:r>
            <a:endParaRPr lang="en-US" sz="1200" dirty="0"/>
          </a:p>
        </p:txBody>
      </p:sp>
      <p:sp>
        <p:nvSpPr>
          <p:cNvPr id="19" name="card2"/>
          <p:cNvSpPr/>
          <p:nvPr/>
        </p:nvSpPr>
        <p:spPr>
          <a:xfrm>
            <a:off x="8247888" y="37033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20" name="cardc2"/>
          <p:cNvSpPr/>
          <p:nvPr/>
        </p:nvSpPr>
        <p:spPr>
          <a:xfrm>
            <a:off x="8567928" y="4050792"/>
            <a:ext cx="548640" cy="548640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4187952"/>
            <a:ext cx="274320" cy="274320"/>
          </a:xfrm>
          <a:prstGeom prst="rect">
            <a:avLst/>
          </a:prstGeom>
        </p:spPr>
      </p:pic>
      <p:sp>
        <p:nvSpPr>
          <p:cNvPr id="22" name="cardh2"/>
          <p:cNvSpPr/>
          <p:nvPr/>
        </p:nvSpPr>
        <p:spPr>
          <a:xfrm>
            <a:off x="8567928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Deployments</a:t>
            </a:r>
            <a:endParaRPr lang="en-US" sz="1500" dirty="0"/>
          </a:p>
        </p:txBody>
      </p:sp>
      <p:sp>
        <p:nvSpPr>
          <p:cNvPr id="23" name="cardd2"/>
          <p:cNvSpPr/>
          <p:nvPr/>
        </p:nvSpPr>
        <p:spPr>
          <a:xfrm>
            <a:off x="8567928" y="5148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businesses, colleges, hospitals and research laboratories.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DF4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3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Microcomputer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TYPES OF COMPUTERS</a:t>
            </a:r>
            <a:endParaRPr lang="en-US" sz="900" dirty="0"/>
          </a:p>
        </p:txBody>
      </p:sp>
      <p:sp>
        <p:nvSpPr>
          <p:cNvPr id="6" name="defcard"/>
          <p:cNvSpPr/>
          <p:nvPr/>
        </p:nvSpPr>
        <p:spPr>
          <a:xfrm>
            <a:off x="822960" y="2103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7" name="deflabel"/>
          <p:cNvSpPr/>
          <p:nvPr/>
        </p:nvSpPr>
        <p:spPr>
          <a:xfrm>
            <a:off x="11887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2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deftext"/>
          <p:cNvSpPr/>
          <p:nvPr/>
        </p:nvSpPr>
        <p:spPr>
          <a:xfrm>
            <a:off x="1188720" y="281635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i="1" dirty="0">
                <a:solidFill>
                  <a:srgbClr val="314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small, low-cost computer built around a microprocessor, designed mainly for personal, home and individual use.</a:t>
            </a:r>
            <a:endParaRPr lang="en-US" sz="1550" dirty="0"/>
          </a:p>
        </p:txBody>
      </p:sp>
      <p:sp>
        <p:nvSpPr>
          <p:cNvPr id="9" name="statlabel"/>
          <p:cNvSpPr/>
          <p:nvPr/>
        </p:nvSpPr>
        <p:spPr>
          <a:xfrm>
            <a:off x="118872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</a:t>
            </a:r>
            <a:endParaRPr lang="en-US" sz="1050" dirty="0"/>
          </a:p>
        </p:txBody>
      </p:sp>
      <p:sp>
        <p:nvSpPr>
          <p:cNvPr id="10" name="statvalue"/>
          <p:cNvSpPr/>
          <p:nvPr/>
        </p:nvSpPr>
        <p:spPr>
          <a:xfrm>
            <a:off x="1188720" y="52852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73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Microprocessor</a:t>
            </a:r>
            <a:endParaRPr lang="en-US" sz="2700" dirty="0"/>
          </a:p>
        </p:txBody>
      </p:sp>
      <p:sp>
        <p:nvSpPr>
          <p:cNvPr id="11" name="featlabel"/>
          <p:cNvSpPr/>
          <p:nvPr/>
        </p:nvSpPr>
        <p:spPr>
          <a:xfrm>
            <a:off x="58064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featcirc0"/>
          <p:cNvSpPr/>
          <p:nvPr/>
        </p:nvSpPr>
        <p:spPr>
          <a:xfrm>
            <a:off x="5806440" y="2624328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172" y="2766060"/>
            <a:ext cx="283464" cy="283464"/>
          </a:xfrm>
          <a:prstGeom prst="rect">
            <a:avLst/>
          </a:prstGeom>
        </p:spPr>
      </p:pic>
      <p:sp>
        <p:nvSpPr>
          <p:cNvPr id="14" name="feath0"/>
          <p:cNvSpPr/>
          <p:nvPr/>
        </p:nvSpPr>
        <p:spPr>
          <a:xfrm>
            <a:off x="6583680" y="25968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Design</a:t>
            </a:r>
            <a:endParaRPr lang="en-US" sz="1550" dirty="0"/>
          </a:p>
        </p:txBody>
      </p:sp>
      <p:sp>
        <p:nvSpPr>
          <p:cNvPr id="15" name="featd0"/>
          <p:cNvSpPr/>
          <p:nvPr/>
        </p:nvSpPr>
        <p:spPr>
          <a:xfrm>
            <a:off x="6583680" y="29260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lightweight and portable — built around a single microprocessor chip.</a:t>
            </a:r>
            <a:endParaRPr lang="en-US" sz="1250" dirty="0"/>
          </a:p>
        </p:txBody>
      </p:sp>
      <p:sp>
        <p:nvSpPr>
          <p:cNvPr id="16" name="featcirc1"/>
          <p:cNvSpPr/>
          <p:nvPr/>
        </p:nvSpPr>
        <p:spPr>
          <a:xfrm>
            <a:off x="5806440" y="3831336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3973068"/>
            <a:ext cx="283464" cy="283464"/>
          </a:xfrm>
          <a:prstGeom prst="rect">
            <a:avLst/>
          </a:prstGeom>
        </p:spPr>
      </p:pic>
      <p:sp>
        <p:nvSpPr>
          <p:cNvPr id="18" name="feath1"/>
          <p:cNvSpPr/>
          <p:nvPr/>
        </p:nvSpPr>
        <p:spPr>
          <a:xfrm>
            <a:off x="6583680" y="38039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Accessible</a:t>
            </a:r>
            <a:endParaRPr lang="en-US" sz="1550" dirty="0"/>
          </a:p>
        </p:txBody>
      </p:sp>
      <p:sp>
        <p:nvSpPr>
          <p:cNvPr id="19" name="featd1"/>
          <p:cNvSpPr/>
          <p:nvPr/>
        </p:nvSpPr>
        <p:spPr>
          <a:xfrm>
            <a:off x="6583680" y="413308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 price and widely available for home, school and office use.</a:t>
            </a:r>
            <a:endParaRPr lang="en-US" sz="1250" dirty="0"/>
          </a:p>
        </p:txBody>
      </p:sp>
      <p:sp>
        <p:nvSpPr>
          <p:cNvPr id="20" name="featcirc2"/>
          <p:cNvSpPr/>
          <p:nvPr/>
        </p:nvSpPr>
        <p:spPr>
          <a:xfrm>
            <a:off x="5806440" y="5038344"/>
            <a:ext cx="566928" cy="566928"/>
          </a:xfrm>
          <a:prstGeom prst="ellipse">
            <a:avLst/>
          </a:prstGeom>
          <a:solidFill>
            <a:srgbClr val="12735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5180076"/>
            <a:ext cx="283464" cy="283464"/>
          </a:xfrm>
          <a:prstGeom prst="rect">
            <a:avLst/>
          </a:prstGeom>
        </p:spPr>
      </p:pic>
      <p:sp>
        <p:nvSpPr>
          <p:cNvPr id="22" name="feath2"/>
          <p:cNvSpPr/>
          <p:nvPr/>
        </p:nvSpPr>
        <p:spPr>
          <a:xfrm>
            <a:off x="6583680" y="50109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550" dirty="0"/>
          </a:p>
        </p:txBody>
      </p:sp>
      <p:sp>
        <p:nvSpPr>
          <p:cNvPr id="23" name="featd2"/>
          <p:cNvSpPr/>
          <p:nvPr/>
        </p:nvSpPr>
        <p:spPr>
          <a:xfrm>
            <a:off x="6583680" y="534009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8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computers, laptops, tablets and smartphones.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DF4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—  SMARTART HIERARCHY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3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Hierarchy of Computers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TYPES OF COMPUTERS</a:t>
            </a:r>
            <a:endParaRPr lang="en-US" sz="900" dirty="0"/>
          </a:p>
        </p:txBody>
      </p:sp>
      <p:sp>
        <p:nvSpPr>
          <p:cNvPr id="6" name="nodeTop"/>
          <p:cNvSpPr/>
          <p:nvPr/>
        </p:nvSpPr>
        <p:spPr>
          <a:xfrm>
            <a:off x="4956048" y="2011680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0A3B2E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7" name="nodeTopT"/>
          <p:cNvSpPr/>
          <p:nvPr/>
        </p:nvSpPr>
        <p:spPr>
          <a:xfrm>
            <a:off x="4956048" y="2011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500" dirty="0"/>
          </a:p>
        </p:txBody>
      </p:sp>
      <p:sp>
        <p:nvSpPr>
          <p:cNvPr id="8" name="bg-ln"/>
          <p:cNvSpPr/>
          <p:nvPr/>
        </p:nvSpPr>
        <p:spPr>
          <a:xfrm>
            <a:off x="6099048" y="2596896"/>
            <a:ext cx="0" cy="219456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9" name="bg-ln"/>
          <p:cNvSpPr/>
          <p:nvPr/>
        </p:nvSpPr>
        <p:spPr>
          <a:xfrm>
            <a:off x="2761488" y="2816352"/>
            <a:ext cx="6665976" cy="0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10" name="bg-ln"/>
          <p:cNvSpPr/>
          <p:nvPr/>
        </p:nvSpPr>
        <p:spPr>
          <a:xfrm>
            <a:off x="2761488" y="2816352"/>
            <a:ext cx="0" cy="292608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11" name="bg-ln"/>
          <p:cNvSpPr/>
          <p:nvPr/>
        </p:nvSpPr>
        <p:spPr>
          <a:xfrm>
            <a:off x="6099048" y="2816352"/>
            <a:ext cx="0" cy="292608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12" name="bg-ln"/>
          <p:cNvSpPr/>
          <p:nvPr/>
        </p:nvSpPr>
        <p:spPr>
          <a:xfrm>
            <a:off x="9427464" y="2816352"/>
            <a:ext cx="0" cy="292608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13" name="nodeL20"/>
          <p:cNvSpPr/>
          <p:nvPr/>
        </p:nvSpPr>
        <p:spPr>
          <a:xfrm>
            <a:off x="1828800" y="3108960"/>
            <a:ext cx="188366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12735A"/>
            </a:solidFill>
            <a:prstDash val="solid"/>
          </a:ln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4" name="nodeL2T0"/>
          <p:cNvSpPr/>
          <p:nvPr/>
        </p:nvSpPr>
        <p:spPr>
          <a:xfrm>
            <a:off x="1828800" y="310896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1300" dirty="0"/>
          </a:p>
        </p:txBody>
      </p:sp>
      <p:sp>
        <p:nvSpPr>
          <p:cNvPr id="15" name="nodeL21"/>
          <p:cNvSpPr/>
          <p:nvPr/>
        </p:nvSpPr>
        <p:spPr>
          <a:xfrm>
            <a:off x="5157216" y="3108960"/>
            <a:ext cx="1883664" cy="530352"/>
          </a:xfrm>
          <a:prstGeom prst="roundRect">
            <a:avLst>
              <a:gd name="adj" fmla="val 13793"/>
            </a:avLst>
          </a:prstGeom>
          <a:solidFill>
            <a:srgbClr val="12735A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6" name="nodeL2T1"/>
          <p:cNvSpPr/>
          <p:nvPr/>
        </p:nvSpPr>
        <p:spPr>
          <a:xfrm>
            <a:off x="5157216" y="310896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300" dirty="0"/>
          </a:p>
        </p:txBody>
      </p:sp>
      <p:sp>
        <p:nvSpPr>
          <p:cNvPr id="17" name="nodeL22"/>
          <p:cNvSpPr/>
          <p:nvPr/>
        </p:nvSpPr>
        <p:spPr>
          <a:xfrm>
            <a:off x="8485632" y="3108960"/>
            <a:ext cx="188366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12735A"/>
            </a:solidFill>
            <a:prstDash val="solid"/>
          </a:ln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18" name="nodeL2T2"/>
          <p:cNvSpPr/>
          <p:nvPr/>
        </p:nvSpPr>
        <p:spPr>
          <a:xfrm>
            <a:off x="8485632" y="310896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19" name="bg-ln"/>
          <p:cNvSpPr/>
          <p:nvPr/>
        </p:nvSpPr>
        <p:spPr>
          <a:xfrm>
            <a:off x="6099048" y="3639312"/>
            <a:ext cx="0" cy="237744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20" name="bg-ln"/>
          <p:cNvSpPr/>
          <p:nvPr/>
        </p:nvSpPr>
        <p:spPr>
          <a:xfrm>
            <a:off x="2779776" y="3877056"/>
            <a:ext cx="6638544" cy="0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21" name="bg-ln"/>
          <p:cNvSpPr/>
          <p:nvPr/>
        </p:nvSpPr>
        <p:spPr>
          <a:xfrm>
            <a:off x="2779776" y="3877056"/>
            <a:ext cx="0" cy="329184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22" name="bg-ln"/>
          <p:cNvSpPr/>
          <p:nvPr/>
        </p:nvSpPr>
        <p:spPr>
          <a:xfrm>
            <a:off x="4992624" y="3877056"/>
            <a:ext cx="0" cy="329184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23" name="bg-ln"/>
          <p:cNvSpPr/>
          <p:nvPr/>
        </p:nvSpPr>
        <p:spPr>
          <a:xfrm>
            <a:off x="7205472" y="3877056"/>
            <a:ext cx="0" cy="329184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24" name="bg-ln"/>
          <p:cNvSpPr/>
          <p:nvPr/>
        </p:nvSpPr>
        <p:spPr>
          <a:xfrm>
            <a:off x="9418320" y="3877056"/>
            <a:ext cx="0" cy="329184"/>
          </a:xfrm>
          <a:prstGeom prst="line">
            <a:avLst/>
          </a:prstGeom>
          <a:noFill/>
          <a:ln w="19050">
            <a:solidFill>
              <a:srgbClr val="AFC9BD"/>
            </a:solidFill>
            <a:prstDash val="solid"/>
          </a:ln>
        </p:spPr>
      </p:sp>
      <p:sp>
        <p:nvSpPr>
          <p:cNvPr id="25" name="nodeL30"/>
          <p:cNvSpPr/>
          <p:nvPr/>
        </p:nvSpPr>
        <p:spPr>
          <a:xfrm>
            <a:off x="1792224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26" name="nodeL3T0"/>
          <p:cNvSpPr/>
          <p:nvPr/>
        </p:nvSpPr>
        <p:spPr>
          <a:xfrm>
            <a:off x="1792224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</a:t>
            </a:r>
            <a:endParaRPr lang="en-US" sz="1250" dirty="0"/>
          </a:p>
        </p:txBody>
      </p:sp>
      <p:sp>
        <p:nvSpPr>
          <p:cNvPr id="27" name="nodeL31"/>
          <p:cNvSpPr/>
          <p:nvPr/>
        </p:nvSpPr>
        <p:spPr>
          <a:xfrm>
            <a:off x="4005072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28" name="nodeL3T1"/>
          <p:cNvSpPr/>
          <p:nvPr/>
        </p:nvSpPr>
        <p:spPr>
          <a:xfrm>
            <a:off x="4005072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250" dirty="0"/>
          </a:p>
        </p:txBody>
      </p:sp>
      <p:sp>
        <p:nvSpPr>
          <p:cNvPr id="29" name="nodeL32"/>
          <p:cNvSpPr/>
          <p:nvPr/>
        </p:nvSpPr>
        <p:spPr>
          <a:xfrm>
            <a:off x="6217920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30" name="nodeL3T2"/>
          <p:cNvSpPr/>
          <p:nvPr/>
        </p:nvSpPr>
        <p:spPr>
          <a:xfrm>
            <a:off x="6217920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Minicomputer</a:t>
            </a:r>
            <a:endParaRPr lang="en-US" sz="1250" dirty="0"/>
          </a:p>
        </p:txBody>
      </p:sp>
      <p:sp>
        <p:nvSpPr>
          <p:cNvPr id="31" name="nodeL33"/>
          <p:cNvSpPr/>
          <p:nvPr/>
        </p:nvSpPr>
        <p:spPr>
          <a:xfrm>
            <a:off x="8430768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EEF5F1"/>
          </a:solidFill>
          <a:ln/>
          <a:effectLst>
            <a:outerShdw sx="100000" sy="100000" kx="0" ky="0" algn="bl" rotWithShape="0" blurRad="114300" dist="38100" dir="5400000">
              <a:srgbClr val="1B3A2F">
                <a:alpha val="13000"/>
              </a:srgbClr>
            </a:outerShdw>
          </a:effectLst>
        </p:spPr>
      </p:sp>
      <p:sp>
        <p:nvSpPr>
          <p:cNvPr id="32" name="nodeL3T3"/>
          <p:cNvSpPr/>
          <p:nvPr/>
        </p:nvSpPr>
        <p:spPr>
          <a:xfrm>
            <a:off x="8430768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Microcomputer</a:t>
            </a:r>
            <a:endParaRPr lang="en-US" sz="1250" dirty="0"/>
          </a:p>
        </p:txBody>
      </p:sp>
      <p:sp>
        <p:nvSpPr>
          <p:cNvPr id="33" name="footnote"/>
          <p:cNvSpPr/>
          <p:nvPr/>
        </p:nvSpPr>
        <p:spPr>
          <a:xfrm>
            <a:off x="1984248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8796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Hybrid computers combine the features of both analog and digital systems.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3" grpId="0"/>
      <p:bldP spid="14" grpId="0"/>
      <p:bldP spid="15" grpId="0"/>
      <p:bldP spid="16" grpId="0"/>
      <p:bldP spid="17" grpId="0"/>
      <p:bldP spid="18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Computers</dc:title>
  <dc:subject>PptxGenJS Presentation</dc:subject>
  <dc:creator>Suraj Tiwari</dc:creator>
  <cp:lastModifiedBy>Suraj Tiwari</cp:lastModifiedBy>
  <cp:revision>1</cp:revision>
  <dcterms:created xsi:type="dcterms:W3CDTF">2026-07-06T11:32:20Z</dcterms:created>
  <dcterms:modified xsi:type="dcterms:W3CDTF">2026-07-06T11:32:20Z</dcterms:modified>
</cp:coreProperties>
</file>